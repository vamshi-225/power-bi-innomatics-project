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86" r:id="rId3"/>
    <p:sldId id="258" r:id="rId4"/>
    <p:sldId id="260" r:id="rId5"/>
    <p:sldId id="261" r:id="rId6"/>
    <p:sldId id="287" r:id="rId7"/>
    <p:sldId id="288" r:id="rId8"/>
    <p:sldId id="289" r:id="rId9"/>
    <p:sldId id="290" r:id="rId10"/>
    <p:sldId id="291" r:id="rId11"/>
    <p:sldId id="292" r:id="rId12"/>
    <p:sldId id="293" r:id="rId13"/>
    <p:sldId id="294" r:id="rId14"/>
    <p:sldId id="295" r:id="rId15"/>
    <p:sldId id="259" r:id="rId16"/>
  </p:sldIdLst>
  <p:sldSz cx="12192000" cy="6858000"/>
  <p:notesSz cx="6858000" cy="9144000"/>
  <p:embeddedFontLst>
    <p:embeddedFont>
      <p:font typeface="Algerian" panose="04020705040A02060702" pitchFamily="82" charset="0"/>
      <p:regular r:id="rId18"/>
    </p:embeddedFont>
    <p:embeddedFont>
      <p:font typeface="Arial Black" panose="020B0A04020102020204" pitchFamily="34" charset="0"/>
      <p:bold r:id="rId19"/>
    </p:embeddedFont>
    <p:embeddedFont>
      <p:font typeface="Libre Baskerville" panose="02000000000000000000" pitchFamily="2" charset="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347CAF7-F204-4211-8FE1-33932034486D}">
          <p14:sldIdLst>
            <p14:sldId id="256"/>
            <p14:sldId id="286"/>
            <p14:sldId id="258"/>
            <p14:sldId id="260"/>
            <p14:sldId id="261"/>
            <p14:sldId id="287"/>
            <p14:sldId id="288"/>
            <p14:sldId id="289"/>
            <p14:sldId id="290"/>
            <p14:sldId id="291"/>
            <p14:sldId id="292"/>
            <p14:sldId id="293"/>
            <p14:sldId id="294"/>
            <p14:sldId id="295"/>
            <p14:sldId id="259"/>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5" d="100"/>
          <a:sy n="85" d="100"/>
        </p:scale>
        <p:origin x="470"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35"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09:01:24.05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09:01:24.29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09:01:40.378"/>
    </inkml:context>
    <inkml:brush xml:id="br0">
      <inkml:brushProperty name="width" value="0.35" units="cm"/>
      <inkml:brushProperty name="height" value="0.35" units="cm"/>
      <inkml:brushProperty name="color" value="#FFFFFF"/>
    </inkml:brush>
  </inkml:definitions>
  <inkml:trace contextRef="#ctx0" brushRef="#br0">607 502 24575,'12'-1'0,"0"0"0,-1 0 0,1-1 0,-1-1 0,1 0 0,18-8 0,65-36 0,-43 20 0,-36 19 0,0 1 0,0 1 0,31-8 0,-32 10 0,16-3 0,0 1 0,1 1 0,41 0 0,-38 5 0,114-4 0,-124 1 0,0 0 0,0-2 0,47-15 0,-55 15 0,0 0 0,0 2 0,1 0 0,32-2 0,75 7 0,-44 1 0,3-2 0,0-3 0,0-4 0,112-23 0,-94 5 0,542-98 0,-526 106 0,149-39 0,-232 49 0,0 2 0,1 1 0,-1 1 0,49 5 0,-3 0 0,-57-2 0,-1 2 0,1 0 0,-1 2 0,1 0 0,-2 2 0,1 0 0,39 20 0,-45-20 0,0 0 0,0-1 0,1-1 0,0 0 0,19 1 0,89 3 0,-50-6 0,11 9 0,13 0 0,156-10 0,-135-3 0,-194 27 0,-740 160-475,93-27 81,570-119 394,-268 83 0,74 19 713,219-88-557,90-40-156,-1-2 0,-66 14 0,-78 0 0,-13 4 0,125-18 0,-136 6 0,-72-19 0,103-2 0,-598 3 0,766 1 0,1-1 0,-1 0 0,0-1 0,1 1 0,-1-1 0,0 0 0,1 0 0,-1 0 0,1-1 0,0 0 0,-1 0 0,1 0 0,0 0 0,0-1 0,-6-4 0,6 3 0,1 0 0,1 0 0,-1 0 0,1 0 0,-1 0 0,1 0 0,0 0 0,1-1 0,-1 1 0,1-1 0,0 0 0,0 1 0,0-1 0,0 0 0,1-7 0,0 6 0,0 0 0,0 1 0,1-1 0,0 1 0,0-1 0,0 1 0,1-1 0,0 1 0,0-1 0,3-5 0,3-3 0,0 1 0,14-16 0,-15 21 0,-1 0 0,1 0 0,-2 0 0,1-1 0,-1 0 0,-1-1 0,0 1 0,6-18 0,44-206 0,-44 197 0,-9 35 0,-1-1 0,1 1 0,0-1 0,-1 1 0,1-1 0,0 1 0,0 0 0,0 0 0,0-1 0,0 1 0,0 0 0,0 0 0,0 0 0,1 0 0,-1 0 0,0 0 0,1 0 0,-1 0 0,3 0 0,-4 1 0,1 0 0,0 0 0,-1 0 0,1 0 0,-1 0 0,1 1 0,0-1 0,-1 0 0,1 0 0,0 1 0,-1-1 0,1 0 0,-1 1 0,1-1 0,-1 1 0,1-1 0,-1 1 0,1-1 0,-1 1 0,1-1 0,-1 1 0,0-1 0,1 1 0,-1 0 0,0-1 0,0 1 0,1 1 0,7 21 0,-7-19 0,19 64 0,-6-27 0,-2 0 0,-1 1 0,-3 0 0,4 63 0,-12-104 0,0 0 0,0 0 0,0 0 0,0 1 0,0-1 0,0 0 0,0 0 0,0 0 0,1 1 0,-1-1 0,0 0 0,1 0 0,-1 0 0,1 0 0,-1 0 0,1 0 0,0 1 0,0 0 0,0-2 0,0 0 0,-1 0 0,1 0 0,-1 0 0,1 0 0,0 0 0,-1 0 0,1-1 0,-1 1 0,1 0 0,-1 0 0,1 0 0,-1-1 0,1 1 0,-1 0 0,1-1 0,-1 1 0,1 0 0,-1-1 0,1 1 0,-1-1 0,0 1 0,1-1 0,-1 1 0,1-1 0,28-46 0,-27 43 0,54-111 0,66-202 0,-90 227 0,-27 75 0,2-5 0,16-32 0,-22 49 0,1 0 0,-1-1 0,1 1 0,0 0 0,0 0 0,1 1 0,-1-1 0,0 0 0,1 1 0,0-1 0,-1 1 0,1 0 0,0 0 0,0 0 0,0 0 0,1 1 0,3-2 0,-5 3 0,1 0 0,-1 0 0,1 0 0,-1 0 0,1 0 0,0 1 0,-1-1 0,0 1 0,1 0 0,-1 0 0,1 0 0,-1 0 0,0 0 0,0 1 0,1-1 0,-1 1 0,0-1 0,0 1 0,-1 0 0,1-1 0,0 1 0,-1 0 0,1 0 0,-1 0 0,3 4 0,3 7 0,1-1 0,-2 1 0,6 15 0,-11-26 0,25 73 0,-2 2 0,-4 0 0,13 106 0,-26-111 0,-4 123 0,-3-178 0,0-16 0,0-1 0,0 1 0,0-1 0,0 0 0,1 1 0,-1-1 0,0 1 0,0-1 0,0 1 0,0-1 0,0 0 0,0 1 0,0-1 0,0 1 0,0-1 0,0 1 0,-1-1 0,1 1 0,0-1 0,0 0 0,0 1 0,0-1 0,-1 1 0,1-1 0,0 0 0,0 1 0,-1-1 0,1 0 0,0 1 0,-1-1 0,1 0 0,0 1 0,-1-1 0,1 0 0,-1 0 0,1 0 0,0 1 0,-1-1 0,1 0 0,-1 0 0,1 0 0,-1 0 0,1 0 0,0 0 0,-1 0 0,0 0 0,-1-1 0,-1 0 0,1 0 0,0-1 0,0 1 0,0-1 0,0 0 0,1 0 0,-1 0 0,-1-2 0,-36-51 0,20 26 0,-10-15 0,3-1 0,1-1 0,-33-85 0,11 13 0,46 117 0,1 0 0,-1 0 0,1 0 0,0-1 0,-1 1 0,1 0 0,0 0 0,0 0 0,0 0 0,0 0 0,0 0 0,0 0 0,0 0 0,0-1 0,1 1 0,-1 0 0,1-1 0,-1 1 0,1 1 0,-1 0 0,1 0 0,-1-1 0,0 1 0,1 0 0,-1 0 0,1 0 0,-1 0 0,1 0 0,-1-1 0,1 1 0,-1 0 0,1 0 0,-1 0 0,1 0 0,-1 1 0,1-1 0,-1 0 0,1 0 0,-1 0 0,1 0 0,-1 0 0,0 1 0,1-1 0,0 1 0,38 25 0,-32-20 0,45 32 0,1-3 0,92 47 0,-117-70 0,1 0 0,0-2 0,0-1 0,1-2 0,0-1 0,1-1 0,49 2 0,-40-6 0,1-2 0,0-2 0,-1-2 0,1-1 0,52-16 0,50-22 0,226-105 0,-246 97 0,-48 22 0,-72 27 0,-10 4 0,-16 5 0,-643 278 0,513-212 0,-379 158 0,418-183 0,110-43 0,17-5 0,22-5 0,731-207 0,-15-51 0,-265 50 0,-460 199 0,-21 11 0,-1 1 0,1 0 0,0 0 0,1 1 0,7-4 0,-13 6 0,0 0 0,0 1 0,0-1 0,0 0 0,0 0 0,0 0 0,-1 0 0,1 0 0,0 0 0,0 1 0,0-1 0,0 0 0,0 0 0,0 0 0,0 0 0,0 1 0,0-1 0,0 0 0,0 0 0,0 0 0,0 0 0,0 1 0,0-1 0,0 0 0,0 0 0,0 0 0,0 0 0,0 1 0,0-1 0,0 0 0,0 0 0,0 0 0,1 0 0,-1 1 0,0-1 0,0 0 0,0 0 0,0 0 0,0 0 0,0 0 0,0 0 0,1 0 0,-1 1 0,0-1 0,0 0 0,0 0 0,0 0 0,1 0 0,-1 0 0,0 0 0,0 0 0,0 0 0,0 0 0,1 0 0,-1 0 0,0 0 0,0 0 0,0 0 0,0 0 0,1 0 0,-1 0 0,0 0 0,-11 13 0,-51 44 0,-113 79 0,130-103 0,-503 365 0,405-279 0,47-35 0,80-72 0,13-11 0,-1 2 0,0-1 0,1 0 0,0 1 0,0 0 0,-1 0 0,2 0 0,-1 0 0,0 0 0,1 0 0,-1 1 0,1-1 0,-3 7 0,5-10 0,0 1 0,0 0 0,0 0 0,1 0 0,-1-1 0,0 1 0,0 0 0,1-1 0,-1 1 0,0 0 0,1 0 0,-1-1 0,0 1 0,1-1 0,-1 1 0,1 0 0,-1-1 0,1 1 0,0-1 0,-1 1 0,1-1 0,0 1 0,-1-1 0,1 0 0,0 1 0,-1-1 0,1 0 0,0 0 0,-1 1 0,1-1 0,2 0 0,27 5 0,-28-5 0,42 3 0,1-2 0,0-3 0,59-8 0,133-36 0,-158 30 0,157-37 0,102-19 0,-271 59 0,101-15 0,-140 25 0,0 1 0,-1 1 0,55 7 0,-73-2 0,-11 2 0,-19 8 0,16-11 0,-375 236 0,133-81 0,190-122 0,-219 125 0,257-155 0,19-6 0,0 0 0,0 0 0,-1 0 0,1 0 0,0 0 0,0 0 0,0 0 0,-1 0 0,1 0 0,0 0 0,0 0 0,0 0 0,-1 0 0,1 0 0,0 0 0,0 0 0,0 0 0,-1 0 0,1-1 0,0 1 0,0 0 0,0 0 0,0 0 0,-1 0 0,1 0 0,0 0 0,0-1 0,0 1 0,0 0 0,0 0 0,0 0 0,-1 0 0,1-1 0,0 1 0,0 0 0,0 0 0,0 0 0,0-1 0,1-1 0,-1 0 0,1 1 0,0-1 0,0 0 0,0 0 0,0 1 0,0-1 0,1 0 0,-1 1 0,0-1 0,1 1 0,-1 0 0,1-1 0,2-1 0,275-197 0,-218 158 0,507-301 0,-379 248 0,-168 86 0,-1 2 0,2 0 0,25-5 0,-5 2 0,-34 7 0,0-1 0,-1 0 0,1 0 0,-1-1 0,0 1 0,0-2 0,7-5 0,28-20 0,-12 15 0,11-8 0,2 2 0,74-27 0,121-38 0,-227 82 0,0 1 0,0 0 0,0 1 0,0 0 0,1 1 0,-1 1 0,1 0 0,0 0 0,-1 1 0,16 1 0,-26 0 0,-1-1 0,1 0 0,0 0 0,-1 0 0,1 0 0,-1 1 0,1-1 0,-1 0 0,1 1 0,-1-1 0,1 0 0,-1 1 0,1-1 0,-1 1 0,1-1 0,-1 0 0,0 1 0,1-1 0,-1 1 0,0-1 0,1 1 0,-1-1 0,0 1 0,0 0 0,0-1 0,1 1 0,-1-1 0,0 1 0,0 0 0,0-1 0,0 1 0,0-1 0,0 1 0,0 0 0,0-1 0,0 1 0,0-1 0,-1 1 0,1-1 0,0 1 0,0 0 0,0-1 0,-1 1 0,1-1 0,0 1 0,-1-1 0,1 1 0,0-1 0,-1 1 0,1-1 0,-1 1 0,-23 29 0,-38 28 0,-88 64 0,81-68 0,47-38 0,0-1 0,-1 0 0,-36 16 0,53-28 0,0 1 0,1 0 0,-1 1 0,1-1 0,0 1 0,0 0 0,0 0 0,-7 12 0,6-9 0,6-8 0,0 0 0,-1 0 0,1 0 0,0 0 0,0 0 0,0 0 0,0 0 0,-1 1 0,1-1 0,0 0 0,0 0 0,0 0 0,0 0 0,0 1 0,-1-1 0,1 0 0,0 0 0,0 0 0,0 0 0,0 1 0,0-1 0,0 0 0,0 0 0,0 0 0,0 1 0,0-1 0,0 0 0,0 0 0,0 1 0,0-1 0,0 0 0,0 0 0,0 0 0,0 1 0,0-1 0,0 0 0,0 0 0,0 0 0,0 1 0,0-1 0,1 0 0,-1 0 0,0 0 0,0 0 0,0 1 0,0-1 0,0 0 0,1 0 0,13-1 0,25-12 0,-36 11 0,82-33 0,-1-5 0,-2-3 0,-3-3 0,-1-4 0,115-97 0,-75 33 0,-112 108 0,-1-1 0,1 0 0,-1 0 0,-1-1 0,0 0 0,0 1 0,0-2 0,-1 1 0,3-11 0,16-34 0,-14 38 0,17-26 0,-25 42 0,0-1 0,0 0 0,0 0 0,0 0 0,0 1 0,0-1 0,0 0 0,0 0 0,0 1 0,0-1 0,0 0 0,0 0 0,0 0 0,0 1 0,0-1 0,0 0 0,0 0 0,1 0 0,-1 0 0,0 1 0,0-1 0,0 0 0,0 0 0,0 0 0,1 0 0,-1 0 0,0 0 0,0 1 0,0-1 0,1 0 0,-1 0 0,0 0 0,0 0 0,0 0 0,1 0 0,-1 0 0,0 0 0,0 0 0,0 0 0,1 0 0,-1 0 0,0 0 0,0 0 0,0 0 0,1 0 0,-1 0 0,0 0 0,0 0 0,0 0 0,1 0 0,-1-1 0,0 1 0,0 0 0,0 0 0,1 0 0,-1 0 0,0 0 0,0 0 0,0-1 0,0 1 0,0 0 0,0 0 0,1-1 0,-2 20 0,-17 82 0,6-44 0,3 0 0,-2 95 0,10-123 0,0-17 0,1 0 0,0 0 0,0-1 0,5 21 0,-5-30 0,1 1 0,0-1 0,0 1 0,0-1 0,0 1 0,0-1 0,0 0 0,1 0 0,-1 0 0,1 0 0,-1 0 0,1 0 0,0 0 0,0 0 0,0 0 0,0-1 0,0 1 0,0-1 0,0 0 0,1 1 0,-1-1 0,1 0 0,-1-1 0,0 1 0,1 0 0,3 0 0,10 1 0,1 0 0,-1-1 0,1-1 0,-1-1 0,33-4 0,78-27 0,-68 15 0,19-12 0,-27 8 0,2 1 0,51-16 0,-88 31 0,0-1 0,-1 0 0,0-2 0,0 1 0,-1-2 0,25-19 0,1 0 0,-28 18 0,0 0 0,-1-1 0,0 0 0,-1-1 0,10-15 0,3-2 0,-14 15 0,0 0 0,-1 0 0,0-1 0,-1 0 0,-1 0 0,0-1 0,-1 1 0,-1-1 0,-1 0 0,0-1 0,1-20 0,-7 45 0,0-1 0,0 1 0,-1-1 0,1 0 0,-2 1 0,-4 5 0,0 1 0,0-1 0,2 1 0,-8 17 0,-1 19 0,1-1 0,3 2 0,-6 52 0,17-98 0,1 0 0,0 0 0,0 0 0,0 0 0,1 0 0,1 7 0,-2-11 0,0 0 0,1 0 0,-1 0 0,1 0 0,-1 0 0,0 0 0,1 0 0,0-1 0,-1 1 0,1 0 0,0 0 0,-1-1 0,1 1 0,0 0 0,0-1 0,-1 1 0,1 0 0,0-1 0,0 1 0,0-1 0,0 0 0,0 1 0,0-1 0,0 0 0,0 0 0,0 1 0,0-1 0,0 0 0,0 0 0,0 0 0,0 0 0,0 0 0,0 0 0,0-1 0,0 1 0,0 0 0,0 0 0,-1-1 0,3 0 0,6-2 0,0-1 0,-1 0 0,1-1 0,-1 0 0,1 0 0,-2-1 0,1 0 0,12-13 0,3-5 0,25-33 0,-30 32 0,-1-1 0,-1 0 0,-1-2 0,-1 1 0,16-47 0,-27 64 0,0 1 0,-1-1 0,0 0 0,-1 1 0,0-1 0,0 0 0,-1 0 0,0 0 0,-1 0 0,0 0 0,-4-11 0,4 16 0,-1 1 0,0-1 0,0 1 0,0-1 0,0 1 0,-1 0 0,0 0 0,0 0 0,0 1 0,0-1 0,-1 1 0,0 0 0,1-1 0,-1 2 0,0-1 0,0 0 0,-1 1 0,1 0 0,0 0 0,-1 0 0,1 0 0,-1 1 0,0 0 0,-7-2 0,-16 0 0,0 1 0,0 1 0,0 1 0,0 2 0,0 0 0,1 2 0,-1 1 0,1 2 0,0 0 0,0 2 0,1 1 0,0 1 0,1 1 0,-32 21 0,49-29 0,1 1 0,0 1 0,1-1 0,-1 1 0,1 0 0,0 0 0,0 1 0,1 0 0,0 0 0,0 0 0,-5 13 0,8-15 0,0 1 0,1-1 0,-1 0 0,1 1 0,0 0 0,1-1 0,0 1 0,0-1 0,0 1 0,0 0 0,1-1 0,0 1 0,0-1 0,0 1 0,1-1 0,0 1 0,0-1 0,5 9 0,4 5 0,1 0 0,1-1 0,1-1 0,0 0 0,1 0 0,1-2 0,31 24 0,1-4 0,87 48 0,-100-66 0,1-1 0,0-2 0,0-1 0,2-2 0,-1-2 0,42 5 0,237 12 0,-272-24 0,439 11 0,-337-17 0,191-28 0,-284 23 0,-1-1 0,0-3 0,-1-2 0,89-39 0,-135 52 0,1-1 0,-1 0 0,0 0 0,-1 0 0,1-1 0,0 1 0,-1-1 0,0 0 0,0-1 0,0 1 0,-1-1 0,1 0 0,2-5 0,-5 7 0,0 0 0,0 0 0,0 0 0,0 0 0,-1 0 0,1-1 0,-1 1 0,0 0 0,0 0 0,0 0 0,0-1 0,-1 1 0,1 0 0,-1 0 0,0 0 0,0 0 0,0 0 0,0 0 0,-1 0 0,1 0 0,-1 0 0,1 1 0,-1-1 0,0 0 0,-4-2 0,0-3 0,-1 2 0,0-1 0,-1 1 0,0 0 0,0 0 0,0 1 0,0 0 0,-1 1 0,0 0 0,0 0 0,0 1 0,0 0 0,-1 1 0,1 0 0,-1 0 0,1 1 0,-18-1 0,12 2 0,0 1 0,0 0 0,1 1 0,-1 1 0,1 0 0,0 1 0,-1 0 0,2 1 0,-1 1 0,1 0 0,-16 10 0,10-4 0,0 1 0,1 1 0,-26 27 0,38-36 0,1 0 0,0 1 0,1 0 0,0 0 0,0 0 0,0 0 0,1 1 0,-1 0 0,1 0 0,1 0 0,0 0 0,0 0 0,0 0 0,1 0 0,-1 10 0,2-15 0,0-1 0,0 1 0,0 0 0,0-1 0,0 1 0,0 0 0,0-1 0,1 1 0,-1 0 0,1-1 0,-1 1 0,1-1 0,0 1 0,0-1 0,-1 1 0,1-1 0,0 1 0,0-1 0,0 0 0,1 0 0,-1 1 0,0-1 0,0 0 0,1 0 0,-1 0 0,1 0 0,-1-1 0,1 1 0,-1 0 0,1 0 0,-1-1 0,1 1 0,-1-1 0,4 1 0,-2-1 0,0 0 0,0 0 0,0 0 0,0-1 0,1 1 0,-1-1 0,0 0 0,0 0 0,0 0 0,0 0 0,0 0 0,0-1 0,-1 1 0,1-1 0,0 0 0,-1 1 0,4-5 0,-1 1 0,-1 0 0,1-1 0,-2 1 0,1-1 0,-1 0 0,1 0 0,-2 0 0,1 0 0,-1-1 0,0 1 0,0-1 0,1-7 0,-1-1 0,0 0 0,-1 0 0,-1 0 0,-2-22 0,1 33 0,0 0 0,1 1 0,-1-1 0,0 1 0,-1-1 0,1 1 0,0 0 0,-1-1 0,0 1 0,0 0 0,0 0 0,0 0 0,0 0 0,-1 1 0,-4-5 0,1 2 0,0 1 0,0 0 0,-1 0 0,1 1 0,-1 0 0,0 0 0,-9-3 0,-9 0 0,0 1 0,0 2 0,-38-2 0,-5 2 0,-85 9 0,127 2 0,20-2 0,16-1 0,-5-5 0,0 0 0,-1-1 0,1 1 0,0-1 0,-1 0 0,1 0 0,0 0 0,-1-1 0,0 1 0,1-1 0,-1 0 0,0-1 0,0 1 0,0-1 0,0 0 0,0 1 0,3-5 0,6-5 0,-2 0 0,0 0 0,14-21 0,-16 22 0,-2 0 0,1-1 0,-2 0 0,1 0 0,-2 0 0,0-1 0,0 0 0,5-26 0,-10 37 0,0 0 0,0 0 0,0 0 0,0 1 0,-1-1 0,1 0 0,-1 0 0,1 0 0,-1 1 0,0-1 0,1 0 0,-1 1 0,0-1 0,0 0 0,0 1 0,0-1 0,-1 1 0,1 0 0,0-1 0,0 1 0,-1 0 0,1 0 0,-1 0 0,1 0 0,-1 0 0,0 0 0,1 0 0,-1 0 0,0 1 0,0-1 0,0 1 0,1-1 0,-3 1 0,-8-3 0,0 2 0,0 0 0,0 0 0,-13 1 0,12 1 0,-4-1 0,1 1 0,-1 1 0,1 0 0,0 2 0,-28 8 0,12 1 0,-53 28 0,47-22 0,21-11 0,-1 1 0,1 0 0,1 2 0,-23 17 0,36-26 0,-1 1 0,1 0 0,0 0 0,1 1 0,-1-1 0,0 1 0,1-1 0,0 1 0,0 0 0,0 0 0,0 0 0,1 0 0,0 0 0,-1 0 0,1 0 0,1 0 0,-1 1 0,1-1 0,-1 0 0,1 0 0,0 1 0,1-1 0,-1 0 0,1 1 0,2 6 0,-2-8 0,1 0 0,0 1 0,-1-1 0,1 0 0,1 0 0,-1 0 0,0 0 0,1 0 0,0 0 0,-1-1 0,1 1 0,0-1 0,1 0 0,-1 0 0,0 0 0,0 0 0,1 0 0,-1-1 0,1 0 0,0 1 0,-1-1 0,1-1 0,0 1 0,5 0 0,7 1 0,0-1 0,-1-1 0,1 0 0,24-3 0,-27 1 0,1-1 0,-1 0 0,0-1 0,0 0 0,0-1 0,-1 0 0,0-1 0,0 0 0,22-16 0,-34 22 0,0-1 0,1 1 0,-1 0 0,0 0 0,0 0 0,0-1 0,1 1 0,-1 0 0,0 0 0,0 0 0,0-1 0,1 1 0,-1 0 0,0-1 0,0 1 0,0 0 0,0 0 0,0-1 0,0 1 0,0 0 0,0-1 0,0 1 0,0 0 0,0 0 0,0-1 0,0 1 0,0 0 0,0-1 0,0 1 0,0 0 0,0 0 0,0-1 0,0 1 0,0 0 0,0-1 0,-1 1 0,1 0 0,0 0 0,0-1 0,0 1 0,0 0 0,-1-1 0,-16-5 0,-23 2 0,39 4 0,-22-2 0,-1 2 0,1 1 0,-1 1 0,0 0 0,1 2 0,0 1 0,0 1 0,-38 15 0,5 2 0,41-18 0,1 0 0,-1 1 0,1 1 0,0 1 0,1-1 0,0 2 0,0 0 0,-17 16 0,14-7 0,9-11 0,0 0 0,0 1 0,1 0 0,-8 15 0,12-19 0,0 0 0,1 0 0,0 0 0,0 0 0,0 0 0,0 0 0,0 0 0,1 0 0,0 0 0,0 1 0,0-1 0,1 0 0,-1 0 0,3 8 0,-2-9 0,-1 0 0,1 0 0,0 0 0,1 0 0,-1 0 0,0 0 0,1 0 0,0 0 0,-1-1 0,1 1 0,0-1 0,1 0 0,-1 1 0,0-1 0,0 0 0,1 0 0,0 0 0,4 2 0,-3-2 0,1-1 0,0 1 0,-1-1 0,1 0 0,0 0 0,0 0 0,0-1 0,0 0 0,0 0 0,9-1 0,2-2 0,0 0 0,0-2 0,0 0 0,-1 0 0,1-2 0,17-9 0,-10 2 0,-1 0 0,0-2 0,0 0 0,-2-1 0,0-1 0,25-30 0,-22 18 0,-1-1 0,-1 0 0,-1-2 0,14-35 0,-23 46 0,-1 0 0,-1-1 0,-1 0 0,7-39 0,-14 56 0,0 1 0,0-1 0,0 1 0,-1 0 0,0-1 0,0 1 0,-1-1 0,1 1 0,-1-1 0,0 1 0,-1 0 0,1 0 0,-1-1 0,0 1 0,-1 0 0,1 0 0,-1 1 0,0-1 0,0 1 0,0-1 0,-1 1 0,1 0 0,-1 0 0,0 0 0,0 1 0,-9-6 0,1 2 0,-2 1 0,1 0 0,0 1 0,-1 1 0,0 0 0,0 0 0,0 2 0,-22-2 0,-14 2 0,-56 4 0,31 1 0,52-1 0,1 0 0,1 1 0,-1 1 0,0 2 0,1 0 0,0 1 0,1 1 0,-1 1 0,1 0 0,1 2 0,0 0 0,1 1 0,0 1 0,0 1 0,2 1 0,-22 23 0,32-31 0,1 0 0,0 0 0,0 0 0,1 1 0,0 0 0,0 0 0,0 0 0,1 1 0,1-1 0,-1 1 0,2-1 0,-2 11 0,2-14 0,1-1 0,0 1 0,0 0 0,0 0 0,1 0 0,0-1 0,0 1 0,0 0 0,0-1 0,1 1 0,0-1 0,0 0 0,0 1 0,0-1 0,1 0 0,-1 0 0,1 0 0,0-1 0,1 1 0,-1-1 0,0 1 0,1-1 0,7 5 0,0-2 0,0-1 0,1 1 0,0-2 0,0 0 0,1 0 0,-1-1 0,1 0 0,0-1 0,-1-1 0,1 0 0,0-1 0,17-1 0,11-3 0,-1-2 0,62-16 0,-69 12 0,-1 0 0,0-2 0,-1-2 0,0 0 0,-1-2 0,0-2 0,-2 0 0,0-2 0,-1-1 0,44-45 0,-44 38 0,-11 13 0,-1-1 0,-1-1 0,0 0 0,21-35 0,-34 50 0,0 0 0,0 0 0,0 1 0,-1-1 0,1 0 0,0 0 0,-1 0 0,0 0 0,1 0 0,-1 0 0,0 0 0,0 0 0,0 0 0,0-1 0,-1 1 0,1 0 0,-1 0 0,1 0 0,-1 1 0,1-1 0,-2-3 0,0 2 0,0 0 0,-1 0 0,1 1 0,-1-1 0,1 0 0,-1 1 0,0 0 0,0-1 0,0 1 0,0 0 0,-4-1 0,-4-3 0,-1 1 0,-1 1 0,1 0 0,-1 0 0,-22-2 0,-18 1 0,-1 3 0,1 1 0,-1 4 0,1 1 0,0 3 0,0 2 0,-94 30 0,69-12 0,1 4 0,1 3 0,2 3 0,-93 63 0,112-60 0,-49 46 0,64-52 0,24-20-455,-2-1 0,-28 16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04C913D-4570-E851-5FD1-69CD3E1739A5}"/>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558124C-3B08-8C66-F309-E2BF929D436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B91E6EEF-7AFA-86B4-93A0-89B909F4DC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55891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2B42FEE-511B-D403-F5B6-E24AF2ABFD1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7ED190C-AC45-170D-56DB-795BF3C341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179D79B8-7AB4-A5DF-2312-0A993A7C7C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405028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6222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3.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2" Type="http://schemas.openxmlformats.org/officeDocument/2006/relationships/hyperlink" Target="https://www.linkedin.com/in/kuchani-vamshi-14b35629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58066" y="3591345"/>
            <a:ext cx="7261028"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4000" b="1" i="0" u="none" strike="noStrike" cap="none" dirty="0">
                <a:solidFill>
                  <a:schemeClr val="dk1"/>
                </a:solidFill>
                <a:latin typeface="Arial Black" panose="020B0A04020102020204" pitchFamily="34" charset="0"/>
                <a:ea typeface="Calibri"/>
                <a:cs typeface="Calibri"/>
                <a:sym typeface="Calibri"/>
              </a:rPr>
              <a:t>M</a:t>
            </a:r>
            <a:r>
              <a:rPr lang="en-IN" sz="4000" b="1" i="0" u="none" strike="noStrike" cap="none" dirty="0">
                <a:solidFill>
                  <a:schemeClr val="dk1"/>
                </a:solidFill>
                <a:latin typeface="Arial Black" panose="020B0A04020102020204" pitchFamily="34" charset="0"/>
                <a:ea typeface="Calibri"/>
                <a:cs typeface="Calibri"/>
                <a:sym typeface="Calibri"/>
              </a:rPr>
              <a:t>ovie Sales Analysis</a:t>
            </a:r>
            <a:endParaRPr sz="4000" b="1" i="0" u="none" strike="noStrike" cap="none" dirty="0">
              <a:solidFill>
                <a:srgbClr val="000000"/>
              </a:solidFill>
              <a:latin typeface="Arial Black" panose="020B0A04020102020204" pitchFamily="34" charset="0"/>
              <a:sym typeface="Arial"/>
            </a:endParaRPr>
          </a:p>
        </p:txBody>
      </p:sp>
      <p:grpSp>
        <p:nvGrpSpPr>
          <p:cNvPr id="6" name="Group 5">
            <a:extLst>
              <a:ext uri="{FF2B5EF4-FFF2-40B4-BE49-F238E27FC236}">
                <a16:creationId xmlns:a16="http://schemas.microsoft.com/office/drawing/2014/main" id="{6DCB0043-8C96-8ECB-A574-359AA1A8209E}"/>
              </a:ext>
            </a:extLst>
          </p:cNvPr>
          <p:cNvGrpSpPr/>
          <p:nvPr/>
        </p:nvGrpSpPr>
        <p:grpSpPr>
          <a:xfrm>
            <a:off x="4796633" y="3024345"/>
            <a:ext cx="2700360" cy="567000"/>
            <a:chOff x="4796633" y="3024345"/>
            <a:chExt cx="2700360" cy="56700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AB434BE-D712-1007-AC5F-28967707EBEC}"/>
                    </a:ext>
                  </a:extLst>
                </p14:cNvPr>
                <p14:cNvContentPartPr/>
                <p14:nvPr/>
              </p14:nvContentPartPr>
              <p14:xfrm>
                <a:off x="4958633" y="3148185"/>
                <a:ext cx="360" cy="360"/>
              </p14:xfrm>
            </p:contentPart>
          </mc:Choice>
          <mc:Fallback xmlns="">
            <p:pic>
              <p:nvPicPr>
                <p:cNvPr id="2" name="Ink 1">
                  <a:extLst>
                    <a:ext uri="{FF2B5EF4-FFF2-40B4-BE49-F238E27FC236}">
                      <a16:creationId xmlns:a16="http://schemas.microsoft.com/office/drawing/2014/main" id="{7AB434BE-D712-1007-AC5F-28967707EBEC}"/>
                    </a:ext>
                  </a:extLst>
                </p:cNvPr>
                <p:cNvPicPr/>
                <p:nvPr/>
              </p:nvPicPr>
              <p:blipFill>
                <a:blip r:embed="rId5"/>
                <a:stretch>
                  <a:fillRect/>
                </a:stretch>
              </p:blipFill>
              <p:spPr>
                <a:xfrm>
                  <a:off x="4895633" y="308554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E36A3B3A-8156-A00D-1860-2CDD6E2F6E7C}"/>
                    </a:ext>
                  </a:extLst>
                </p14:cNvPr>
                <p14:cNvContentPartPr/>
                <p14:nvPr/>
              </p14:nvContentPartPr>
              <p14:xfrm>
                <a:off x="4958633" y="3148185"/>
                <a:ext cx="360" cy="360"/>
              </p14:xfrm>
            </p:contentPart>
          </mc:Choice>
          <mc:Fallback xmlns="">
            <p:pic>
              <p:nvPicPr>
                <p:cNvPr id="3" name="Ink 2">
                  <a:extLst>
                    <a:ext uri="{FF2B5EF4-FFF2-40B4-BE49-F238E27FC236}">
                      <a16:creationId xmlns:a16="http://schemas.microsoft.com/office/drawing/2014/main" id="{E36A3B3A-8156-A00D-1860-2CDD6E2F6E7C}"/>
                    </a:ext>
                  </a:extLst>
                </p:cNvPr>
                <p:cNvPicPr/>
                <p:nvPr/>
              </p:nvPicPr>
              <p:blipFill>
                <a:blip r:embed="rId5"/>
                <a:stretch>
                  <a:fillRect/>
                </a:stretch>
              </p:blipFill>
              <p:spPr>
                <a:xfrm>
                  <a:off x="4895633" y="308554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227246F8-23E2-6795-D601-2431DC3F8CEB}"/>
                    </a:ext>
                  </a:extLst>
                </p14:cNvPr>
                <p14:cNvContentPartPr/>
                <p14:nvPr/>
              </p14:nvContentPartPr>
              <p14:xfrm>
                <a:off x="4796633" y="3024345"/>
                <a:ext cx="2700360" cy="567000"/>
              </p14:xfrm>
            </p:contentPart>
          </mc:Choice>
          <mc:Fallback xmlns="">
            <p:pic>
              <p:nvPicPr>
                <p:cNvPr id="5" name="Ink 4">
                  <a:extLst>
                    <a:ext uri="{FF2B5EF4-FFF2-40B4-BE49-F238E27FC236}">
                      <a16:creationId xmlns:a16="http://schemas.microsoft.com/office/drawing/2014/main" id="{227246F8-23E2-6795-D601-2431DC3F8CEB}"/>
                    </a:ext>
                  </a:extLst>
                </p:cNvPr>
                <p:cNvPicPr/>
                <p:nvPr/>
              </p:nvPicPr>
              <p:blipFill>
                <a:blip r:embed="rId8"/>
                <a:stretch>
                  <a:fillRect/>
                </a:stretch>
              </p:blipFill>
              <p:spPr>
                <a:xfrm>
                  <a:off x="4733633" y="2961345"/>
                  <a:ext cx="2826000" cy="692640"/>
                </a:xfrm>
                <a:prstGeom prst="rect">
                  <a:avLst/>
                </a:prstGeom>
              </p:spPr>
            </p:pic>
          </mc:Fallback>
        </mc:AlternateContent>
      </p:grpSp>
      <p:sp>
        <p:nvSpPr>
          <p:cNvPr id="13" name="TextBox 12">
            <a:extLst>
              <a:ext uri="{FF2B5EF4-FFF2-40B4-BE49-F238E27FC236}">
                <a16:creationId xmlns:a16="http://schemas.microsoft.com/office/drawing/2014/main" id="{7E5E0A19-81B0-9DAC-083F-214E1F0ACC06}"/>
              </a:ext>
            </a:extLst>
          </p:cNvPr>
          <p:cNvSpPr txBox="1"/>
          <p:nvPr/>
        </p:nvSpPr>
        <p:spPr>
          <a:xfrm>
            <a:off x="3342969" y="2615381"/>
            <a:ext cx="5422880" cy="584775"/>
          </a:xfrm>
          <a:prstGeom prst="rect">
            <a:avLst/>
          </a:prstGeom>
          <a:noFill/>
        </p:spPr>
        <p:txBody>
          <a:bodyPr wrap="square" rtlCol="0">
            <a:spAutoFit/>
          </a:bodyPr>
          <a:lstStyle/>
          <a:p>
            <a:pPr algn="ctr"/>
            <a:r>
              <a:rPr lang="en-US" sz="3200" b="1" dirty="0">
                <a:solidFill>
                  <a:srgbClr val="FF0000"/>
                </a:solidFill>
                <a:latin typeface="Arial Black" panose="020B0A04020102020204" pitchFamily="34" charset="0"/>
              </a:rPr>
              <a:t>PROJECT ON</a:t>
            </a:r>
            <a:endParaRPr lang="en-IN" sz="3200" b="1" dirty="0">
              <a:solidFill>
                <a:srgbClr val="FF0000"/>
              </a:solidFill>
              <a:latin typeface="Arial Black" panose="020B0A04020102020204" pitchFamily="34" charset="0"/>
            </a:endParaRPr>
          </a:p>
        </p:txBody>
      </p:sp>
      <p:sp>
        <p:nvSpPr>
          <p:cNvPr id="4" name="TextBox 3">
            <a:extLst>
              <a:ext uri="{FF2B5EF4-FFF2-40B4-BE49-F238E27FC236}">
                <a16:creationId xmlns:a16="http://schemas.microsoft.com/office/drawing/2014/main" id="{B78AC216-9E27-F194-C5EA-EDC664DF0303}"/>
              </a:ext>
            </a:extLst>
          </p:cNvPr>
          <p:cNvSpPr txBox="1"/>
          <p:nvPr/>
        </p:nvSpPr>
        <p:spPr>
          <a:xfrm>
            <a:off x="7496993" y="4621161"/>
            <a:ext cx="4053875" cy="1323439"/>
          </a:xfrm>
          <a:prstGeom prst="rect">
            <a:avLst/>
          </a:prstGeom>
          <a:noFill/>
        </p:spPr>
        <p:txBody>
          <a:bodyPr wrap="square" rtlCol="0">
            <a:spAutoFit/>
          </a:bodyPr>
          <a:lstStyle/>
          <a:p>
            <a:r>
              <a:rPr lang="en-US" sz="2000" dirty="0">
                <a:solidFill>
                  <a:srgbClr val="FF0000"/>
                </a:solidFill>
                <a:latin typeface="Arial Black" panose="020B0A04020102020204" pitchFamily="34" charset="0"/>
              </a:rPr>
              <a:t>Presented By:</a:t>
            </a:r>
          </a:p>
          <a:p>
            <a:r>
              <a:rPr lang="en-US" sz="2000" dirty="0">
                <a:solidFill>
                  <a:schemeClr val="tx1"/>
                </a:solidFill>
                <a:latin typeface="Arial Black" panose="020B0A04020102020204" pitchFamily="34" charset="0"/>
              </a:rPr>
              <a:t>Name   : KUCHANI VAMSHI</a:t>
            </a:r>
          </a:p>
          <a:p>
            <a:r>
              <a:rPr lang="en-US" sz="2000" dirty="0">
                <a:solidFill>
                  <a:schemeClr val="tx1"/>
                </a:solidFill>
                <a:latin typeface="Arial Black" panose="020B0A04020102020204" pitchFamily="34" charset="0"/>
              </a:rPr>
              <a:t>Batch   : 456</a:t>
            </a:r>
          </a:p>
          <a:p>
            <a:r>
              <a:rPr lang="en-US" sz="2000" dirty="0">
                <a:solidFill>
                  <a:schemeClr val="tx1"/>
                </a:solidFill>
                <a:latin typeface="Arial Black" panose="020B0A04020102020204" pitchFamily="34" charset="0"/>
              </a:rPr>
              <a:t>Branch : DILSUKHNAGAR</a:t>
            </a:r>
            <a:endParaRPr lang="en-IN" sz="2000" dirty="0">
              <a:solidFill>
                <a:schemeClr val="tx1"/>
              </a:solidFill>
              <a:latin typeface="Arial Black" panose="020B0A040201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F4B760-3066-317E-2E28-E0E397BF4E61}"/>
              </a:ext>
            </a:extLst>
          </p:cNvPr>
          <p:cNvSpPr txBox="1"/>
          <p:nvPr/>
        </p:nvSpPr>
        <p:spPr>
          <a:xfrm>
            <a:off x="816077" y="353961"/>
            <a:ext cx="10825317" cy="3970318"/>
          </a:xfrm>
          <a:prstGeom prst="rect">
            <a:avLst/>
          </a:prstGeom>
          <a:noFill/>
        </p:spPr>
        <p:txBody>
          <a:bodyPr wrap="square" rtlCol="0">
            <a:spAutoFit/>
          </a:bodyPr>
          <a:lstStyle/>
          <a:p>
            <a:r>
              <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rPr>
              <a:t>About Me</a:t>
            </a:r>
          </a:p>
          <a:p>
            <a:endPar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lvl="0" indent="-323850">
              <a:buClr>
                <a:schemeClr val="dk1"/>
              </a:buClr>
              <a:buSzPts val="2400"/>
              <a:buFont typeface="Arial"/>
              <a:buChar char="•"/>
            </a:pPr>
            <a:r>
              <a:rPr lang="en-US" sz="2400" b="1" dirty="0">
                <a:solidFill>
                  <a:schemeClr val="dk1"/>
                </a:solidFill>
                <a:latin typeface="Calibri"/>
                <a:ea typeface="Calibri"/>
                <a:cs typeface="Calibri"/>
                <a:sym typeface="Calibri"/>
              </a:rPr>
              <a:t>My Name is Vamshi. </a:t>
            </a:r>
          </a:p>
          <a:p>
            <a:pPr lvl="0">
              <a:buClr>
                <a:schemeClr val="dk1"/>
              </a:buClr>
              <a:buSzPts val="2400"/>
            </a:pPr>
            <a:endParaRPr lang="en-US" sz="2400" b="1" dirty="0">
              <a:solidFill>
                <a:schemeClr val="dk1"/>
              </a:solidFill>
              <a:latin typeface="Calibri"/>
              <a:ea typeface="Calibri"/>
              <a:cs typeface="Calibri"/>
              <a:sym typeface="Calibri"/>
            </a:endParaRPr>
          </a:p>
          <a:p>
            <a:pPr marL="285750" lvl="0" indent="-323850">
              <a:buClr>
                <a:schemeClr val="dk1"/>
              </a:buClr>
              <a:buSzPts val="2400"/>
              <a:buFont typeface="Arial"/>
              <a:buChar char="•"/>
            </a:pPr>
            <a:r>
              <a:rPr lang="en-US" sz="2400" b="1" dirty="0">
                <a:latin typeface="Calibri" panose="020F0502020204030204" pitchFamily="34" charset="0"/>
                <a:ea typeface="Calibri" panose="020F0502020204030204" pitchFamily="34" charset="0"/>
                <a:cs typeface="Calibri" panose="020F0502020204030204" pitchFamily="34" charset="0"/>
              </a:rPr>
              <a:t>I have completed my Bachelor of Technology in Computer Science and Engineering.</a:t>
            </a:r>
          </a:p>
          <a:p>
            <a:pPr lvl="0">
              <a:buClr>
                <a:schemeClr val="dk1"/>
              </a:buClr>
              <a:buSzPts val="2400"/>
            </a:pPr>
            <a:endParaRPr lang="en-US" sz="2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323850">
              <a:buClr>
                <a:schemeClr val="dk1"/>
              </a:buClr>
              <a:buSzPts val="2400"/>
              <a:buFont typeface="Arial"/>
              <a:buChar char="•"/>
            </a:pPr>
            <a:r>
              <a:rPr lang="en-US" sz="2400" b="1" dirty="0">
                <a:solidFill>
                  <a:schemeClr val="dk1"/>
                </a:solidFill>
                <a:latin typeface="Calibri"/>
                <a:ea typeface="Calibri"/>
                <a:cs typeface="Calibri"/>
                <a:sym typeface="Calibri"/>
              </a:rPr>
              <a:t>Linked In : </a:t>
            </a:r>
            <a:r>
              <a:rPr lang="en-US" sz="2400" dirty="0">
                <a:solidFill>
                  <a:schemeClr val="dk1"/>
                </a:solidFill>
                <a:latin typeface="Calibri"/>
                <a:ea typeface="Calibri"/>
                <a:cs typeface="Calibri"/>
                <a:sym typeface="Calibri"/>
                <a:hlinkClick r:id="rId2"/>
              </a:rPr>
              <a:t>https://www.linkedin.com/in/kuchani-vamshi-14b356296/</a:t>
            </a:r>
            <a:endParaRPr lang="en-US" sz="2400" dirty="0">
              <a:solidFill>
                <a:schemeClr val="dk1"/>
              </a:solidFill>
              <a:latin typeface="Calibri"/>
              <a:ea typeface="Calibri"/>
              <a:cs typeface="Calibri"/>
              <a:sym typeface="Calibri"/>
            </a:endParaRPr>
          </a:p>
          <a:p>
            <a:pPr lvl="0">
              <a:buClr>
                <a:schemeClr val="dk1"/>
              </a:buClr>
              <a:buSzPts val="2400"/>
            </a:pPr>
            <a:endParaRPr lang="en-US" sz="2400" dirty="0">
              <a:solidFill>
                <a:schemeClr val="dk1"/>
              </a:solidFill>
              <a:latin typeface="Calibri"/>
              <a:ea typeface="Calibri"/>
              <a:cs typeface="Calibri"/>
              <a:sym typeface="Calibri"/>
            </a:endParaRPr>
          </a:p>
          <a:p>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 </a:t>
            </a:r>
            <a:endPar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5834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fontScale="92500" lnSpcReduction="10000"/>
          </a:bodyPr>
          <a:lstStyle/>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Introduction</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Business Problem</a:t>
            </a:r>
          </a:p>
          <a:p>
            <a:pPr marL="825500" lvl="1">
              <a:buSzPts val="2400"/>
            </a:pPr>
            <a:r>
              <a:rPr lang="en-IN" sz="2000" b="1" dirty="0">
                <a:latin typeface="Calibri" panose="020F0502020204030204" pitchFamily="34" charset="0"/>
                <a:ea typeface="Calibri" panose="020F0502020204030204" pitchFamily="34" charset="0"/>
                <a:cs typeface="Calibri" panose="020F0502020204030204" pitchFamily="34" charset="0"/>
              </a:rPr>
              <a:t>Business Problem</a:t>
            </a:r>
          </a:p>
          <a:p>
            <a:pPr marL="825500" lvl="1">
              <a:buSzPts val="2400"/>
            </a:pPr>
            <a:r>
              <a:rPr lang="en-IN" sz="2000" b="1" dirty="0">
                <a:latin typeface="Calibri" panose="020F0502020204030204" pitchFamily="34" charset="0"/>
                <a:ea typeface="Calibri" panose="020F0502020204030204" pitchFamily="34" charset="0"/>
                <a:cs typeface="Calibri" panose="020F0502020204030204" pitchFamily="34" charset="0"/>
              </a:rPr>
              <a:t>Business Objective</a:t>
            </a:r>
          </a:p>
          <a:p>
            <a:pPr marL="825500" lvl="1">
              <a:buSzPts val="2400"/>
            </a:pPr>
            <a:r>
              <a:rPr lang="en-IN" sz="2000" b="1" dirty="0">
                <a:latin typeface="Calibri" panose="020F0502020204030204" pitchFamily="34" charset="0"/>
                <a:ea typeface="Calibri" panose="020F0502020204030204" pitchFamily="34" charset="0"/>
                <a:cs typeface="Calibri" panose="020F0502020204030204" pitchFamily="34" charset="0"/>
              </a:rPr>
              <a:t>Problem Statement</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Movie Overview &amp; Time Trends</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Gener &amp; Rating Analysis</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Top Performance &amp; Box Office Insights</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Correlation &amp; Advance Metrics</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Key Insights</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Conclusion</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Recommendation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B9DBA81-3C1A-92B0-8690-D90F22842FD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1FAED633-9A57-D809-C3AC-5021CCC8282B}"/>
              </a:ext>
            </a:extLst>
          </p:cNvPr>
          <p:cNvSpPr txBox="1">
            <a:spLocks noGrp="1"/>
          </p:cNvSpPr>
          <p:nvPr>
            <p:ph type="title"/>
          </p:nvPr>
        </p:nvSpPr>
        <p:spPr>
          <a:xfrm>
            <a:off x="684880" y="18255"/>
            <a:ext cx="10515600" cy="116009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FF0000"/>
                </a:solidFill>
                <a:latin typeface="Arial Black" panose="020B0A04020102020204" pitchFamily="34" charset="0"/>
                <a:ea typeface="Calibri" panose="020F0502020204030204" pitchFamily="34" charset="0"/>
                <a:cs typeface="Calibri" panose="020F0502020204030204" pitchFamily="34" charset="0"/>
              </a:rPr>
              <a:t>  </a:t>
            </a:r>
            <a:r>
              <a:rPr lang="en-IN" sz="4000" b="1" dirty="0">
                <a:solidFill>
                  <a:srgbClr val="FF0000"/>
                </a:solidFill>
                <a:latin typeface="Arial Black" panose="020B0A04020102020204" pitchFamily="34" charset="0"/>
                <a:ea typeface="Calibri" panose="020F0502020204030204" pitchFamily="34" charset="0"/>
                <a:cs typeface="Calibri" panose="020F0502020204030204" pitchFamily="34" charset="0"/>
              </a:rPr>
              <a:t>Introduction</a:t>
            </a:r>
            <a:endParaRPr sz="4000" b="1" dirty="0">
              <a:solidFill>
                <a:srgbClr val="FF0000"/>
              </a:solidFill>
              <a:latin typeface="Arial Black" panose="020B0A04020102020204" pitchFamily="34" charset="0"/>
              <a:ea typeface="Calibri" panose="020F0502020204030204" pitchFamily="34" charset="0"/>
              <a:cs typeface="Calibri" panose="020F0502020204030204" pitchFamily="34" charset="0"/>
            </a:endParaRPr>
          </a:p>
        </p:txBody>
      </p:sp>
      <p:sp>
        <p:nvSpPr>
          <p:cNvPr id="111" name="Google Shape;111;p4">
            <a:extLst>
              <a:ext uri="{FF2B5EF4-FFF2-40B4-BE49-F238E27FC236}">
                <a16:creationId xmlns:a16="http://schemas.microsoft.com/office/drawing/2014/main" id="{316D2708-3E17-B327-8535-8C9E01F53611}"/>
              </a:ext>
            </a:extLst>
          </p:cNvPr>
          <p:cNvSpPr txBox="1">
            <a:spLocks noGrp="1"/>
          </p:cNvSpPr>
          <p:nvPr>
            <p:ph type="body" idx="1"/>
          </p:nvPr>
        </p:nvSpPr>
        <p:spPr>
          <a:xfrm>
            <a:off x="684880" y="1178350"/>
            <a:ext cx="10515600" cy="5092017"/>
          </a:xfrm>
          <a:prstGeom prst="rect">
            <a:avLst/>
          </a:prstGeom>
          <a:noFill/>
          <a:ln>
            <a:noFill/>
          </a:ln>
        </p:spPr>
        <p:txBody>
          <a:bodyPr spcFirstLastPara="1" wrap="square" lIns="91425" tIns="45700" rIns="91425" bIns="45700" anchor="t" anchorCtr="0">
            <a:normAutofit/>
          </a:bodyPr>
          <a:lstStyle/>
          <a:p>
            <a:pPr algn="just"/>
            <a:r>
              <a:rPr lang="en-US" sz="2400" dirty="0"/>
              <a:t>In today’s entertainment industry, movies are not just a source of art and storytelling but also a major business. </a:t>
            </a:r>
          </a:p>
          <a:p>
            <a:pPr algn="just"/>
            <a:r>
              <a:rPr lang="en-US" sz="2400" dirty="0"/>
              <a:t>Producing a movie requires a huge investment of time, money, and effort from producers, directors, actors, and technicians. </a:t>
            </a:r>
          </a:p>
          <a:p>
            <a:pPr algn="just"/>
            <a:r>
              <a:rPr lang="en-US" sz="2400" dirty="0"/>
              <a:t>Despite this, not all movies perform well at the box office, and poor performance can lead to significant financial losses for production houses.</a:t>
            </a:r>
          </a:p>
          <a:p>
            <a:pPr algn="just"/>
            <a:r>
              <a:rPr lang="en-US" sz="2400" dirty="0"/>
              <a:t>This project focuses on analyzing movie sales data to identify revenue trends, top-performing movies, profitable genres, and regional performance.</a:t>
            </a:r>
          </a:p>
          <a:p>
            <a:pPr algn="just"/>
            <a:r>
              <a:rPr lang="en-US" sz="2400" dirty="0"/>
              <a:t>By using data analysis and visualization techniques, the project aims to convert raw movie sales data into meaningful insights that support better business and investment decisions.</a:t>
            </a:r>
            <a:endPar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5400" indent="0">
              <a:buSzPts val="240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25400" indent="0">
              <a:buSzPts val="2400"/>
              <a:buNone/>
            </a:pPr>
            <a:endParaRPr lang="en-US" sz="2400" b="1" dirty="0">
              <a:solidFill>
                <a:srgbClr val="FF0000"/>
              </a:solidFill>
              <a:latin typeface="Arial Black" panose="020B0A040201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07409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6ACC60C0-398A-A640-B731-D789AA325AA0}"/>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58E793A-D5FB-724A-26ED-6FB571FB6447}"/>
              </a:ext>
            </a:extLst>
          </p:cNvPr>
          <p:cNvSpPr txBox="1">
            <a:spLocks noGrp="1"/>
          </p:cNvSpPr>
          <p:nvPr>
            <p:ph type="title"/>
          </p:nvPr>
        </p:nvSpPr>
        <p:spPr>
          <a:xfrm>
            <a:off x="991520" y="18255"/>
            <a:ext cx="9732552" cy="1028120"/>
          </a:xfrm>
          <a:prstGeom prst="rect">
            <a:avLst/>
          </a:prstGeom>
          <a:noFill/>
          <a:ln>
            <a:noFill/>
          </a:ln>
        </p:spPr>
        <p:txBody>
          <a:bodyPr spcFirstLastPara="1" wrap="square" lIns="91425" tIns="45700" rIns="91425" bIns="45700" anchor="ctr" anchorCtr="0">
            <a:normAutofit fontScale="90000"/>
          </a:bodyPr>
          <a:lstStyle/>
          <a:p>
            <a:pPr algn="ctr">
              <a:buClr>
                <a:srgbClr val="FF0000"/>
              </a:buClr>
              <a:buSzPts val="4400"/>
            </a:pPr>
            <a:br>
              <a:rPr lang="en-IN" sz="3600" b="1" dirty="0">
                <a:solidFill>
                  <a:srgbClr val="FF0000"/>
                </a:solidFill>
                <a:latin typeface="Arial Black" panose="020B0A04020102020204" pitchFamily="34" charset="0"/>
                <a:ea typeface="Calibri" panose="020F0502020204030204" pitchFamily="34" charset="0"/>
                <a:cs typeface="Calibri" panose="020F0502020204030204" pitchFamily="34" charset="0"/>
              </a:rPr>
            </a:br>
            <a:br>
              <a:rPr lang="en-IN" sz="3600" b="1" dirty="0">
                <a:solidFill>
                  <a:srgbClr val="FF0000"/>
                </a:solidFill>
                <a:latin typeface="Arial Black" panose="020B0A04020102020204" pitchFamily="34" charset="0"/>
                <a:ea typeface="Calibri" panose="020F0502020204030204" pitchFamily="34" charset="0"/>
                <a:cs typeface="Calibri" panose="020F0502020204030204" pitchFamily="34" charset="0"/>
              </a:rPr>
            </a:br>
            <a:r>
              <a:rPr lang="en-IN" b="1" dirty="0">
                <a:solidFill>
                  <a:srgbClr val="FF0000"/>
                </a:solidFill>
                <a:latin typeface="Arial Black" panose="020B0A04020102020204" pitchFamily="34" charset="0"/>
                <a:ea typeface="Calibri" panose="020F0502020204030204" pitchFamily="34" charset="0"/>
                <a:cs typeface="Calibri" panose="020F0502020204030204" pitchFamily="34" charset="0"/>
              </a:rPr>
              <a:t>Business Problem</a:t>
            </a:r>
            <a:br>
              <a:rPr lang="en-IN" b="1" dirty="0">
                <a:latin typeface="Calibri" panose="020F0502020204030204" pitchFamily="34" charset="0"/>
                <a:ea typeface="Calibri" panose="020F0502020204030204" pitchFamily="34" charset="0"/>
                <a:cs typeface="Calibri" panose="020F0502020204030204" pitchFamily="34" charset="0"/>
              </a:rPr>
            </a:br>
            <a:endParaRPr b="1" dirty="0">
              <a:solidFill>
                <a:srgbClr val="FF0000"/>
              </a:solidFill>
              <a:latin typeface="Algerian" panose="04020705040A02060702" pitchFamily="82" charset="0"/>
            </a:endParaRPr>
          </a:p>
        </p:txBody>
      </p:sp>
      <p:sp>
        <p:nvSpPr>
          <p:cNvPr id="111" name="Google Shape;111;p4">
            <a:extLst>
              <a:ext uri="{FF2B5EF4-FFF2-40B4-BE49-F238E27FC236}">
                <a16:creationId xmlns:a16="http://schemas.microsoft.com/office/drawing/2014/main" id="{52C8BE49-7857-C6A8-6330-320E84BE8647}"/>
              </a:ext>
            </a:extLst>
          </p:cNvPr>
          <p:cNvSpPr txBox="1">
            <a:spLocks noGrp="1"/>
          </p:cNvSpPr>
          <p:nvPr>
            <p:ph type="body" idx="1"/>
          </p:nvPr>
        </p:nvSpPr>
        <p:spPr>
          <a:xfrm>
            <a:off x="684880" y="1046374"/>
            <a:ext cx="10515600" cy="5223993"/>
          </a:xfrm>
          <a:prstGeom prst="rect">
            <a:avLst/>
          </a:prstGeom>
          <a:noFill/>
          <a:ln>
            <a:noFill/>
          </a:ln>
        </p:spPr>
        <p:txBody>
          <a:bodyPr spcFirstLastPara="1" wrap="square" lIns="91425" tIns="45700" rIns="91425" bIns="45700" anchor="t" anchorCtr="0">
            <a:normAutofit lnSpcReduction="10000"/>
          </a:bodyPr>
          <a:lstStyle/>
          <a:p>
            <a:pPr marL="114300" indent="0">
              <a:buNone/>
            </a:pPr>
            <a:r>
              <a:rPr lang="en-US" sz="2400" b="1" u="sng" dirty="0">
                <a:solidFill>
                  <a:srgbClr val="FF0000"/>
                </a:solidFill>
              </a:rPr>
              <a:t>Business Problem</a:t>
            </a:r>
          </a:p>
          <a:p>
            <a:pPr marL="114300" indent="0" algn="just">
              <a:buNone/>
            </a:pPr>
            <a:r>
              <a:rPr lang="en-US" sz="2400" dirty="0"/>
              <a:t>Nowadays, the movie industry has become a big business that requires a huge investment of time, money, and effort. Production houses spend heavily on actors, marketing, and promotions with the expectation of earning high returns. However, not all movies perform well at the box office. Many films fail to recover their budgets, leading to significant financial losses for production houses.</a:t>
            </a:r>
          </a:p>
          <a:p>
            <a:pPr marL="114300" indent="0" algn="just">
              <a:buNone/>
            </a:pPr>
            <a:r>
              <a:rPr lang="en-US" sz="2400" b="1" u="sng" dirty="0">
                <a:solidFill>
                  <a:srgbClr val="FF0000"/>
                </a:solidFill>
              </a:rPr>
              <a:t>Business Objective</a:t>
            </a:r>
          </a:p>
          <a:p>
            <a:pPr marL="114300" indent="0" algn="just">
              <a:buNone/>
            </a:pPr>
            <a:r>
              <a:rPr lang="en-US" sz="2400" dirty="0">
                <a:solidFill>
                  <a:schemeClr val="tx1"/>
                </a:solidFill>
              </a:rPr>
              <a:t>To analyze movie sales performance across </a:t>
            </a:r>
            <a:r>
              <a:rPr lang="en-US" sz="2400">
                <a:solidFill>
                  <a:schemeClr val="tx1"/>
                </a:solidFill>
              </a:rPr>
              <a:t>different genres, </a:t>
            </a:r>
            <a:r>
              <a:rPr lang="en-US" sz="2400" dirty="0">
                <a:solidFill>
                  <a:schemeClr val="tx1"/>
                </a:solidFill>
              </a:rPr>
              <a:t>and time periods and To identify high-performing and low-performing movies based on revenue, ratings, and audience response.</a:t>
            </a:r>
          </a:p>
          <a:p>
            <a:pPr marL="114300" indent="0" algn="just">
              <a:buNone/>
            </a:pPr>
            <a:r>
              <a:rPr lang="en-US" sz="2400" b="1" u="sng" dirty="0">
                <a:solidFill>
                  <a:srgbClr val="FF0000"/>
                </a:solidFill>
              </a:rPr>
              <a:t>Problem Statement</a:t>
            </a:r>
          </a:p>
          <a:p>
            <a:pPr marL="114300" indent="0" algn="just">
              <a:buNone/>
            </a:pPr>
            <a:r>
              <a:rPr lang="en-US" sz="2400" dirty="0">
                <a:solidFill>
                  <a:schemeClr val="tx1"/>
                </a:solidFill>
              </a:rPr>
              <a:t>Many movies fail to earn profits even after high investment due to poor planning and lack of insights. Analyzing movie sales data can help production houses understand what works and reduce financial losses.</a:t>
            </a:r>
          </a:p>
          <a:p>
            <a:pPr marL="114300" indent="0" algn="just">
              <a:buNone/>
            </a:pPr>
            <a:endParaRPr lang="en-US" sz="2400" b="1" u="sng" dirty="0">
              <a:solidFill>
                <a:srgbClr val="FF0000"/>
              </a:solidFill>
            </a:endParaRPr>
          </a:p>
          <a:p>
            <a:pPr marL="114300" indent="0" algn="just">
              <a:buNone/>
            </a:pPr>
            <a:endParaRPr lang="en-US" sz="2400" dirty="0"/>
          </a:p>
          <a:p>
            <a:pPr marL="114300" indent="0" algn="just">
              <a:buNone/>
            </a:pPr>
            <a:endParaRPr lang="en-US" sz="2400" dirty="0"/>
          </a:p>
          <a:p>
            <a:pPr marL="25400" indent="0">
              <a:buSzPts val="2400"/>
              <a:buNone/>
            </a:pPr>
            <a:endParaRPr lang="en-US" sz="2400" b="1" dirty="0">
              <a:solidFill>
                <a:srgbClr val="FF0000"/>
              </a:solidFill>
              <a:latin typeface="Arial Black" panose="020B0A040201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7665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720BB7-49B8-94BA-FD36-597B58E68139}"/>
              </a:ext>
            </a:extLst>
          </p:cNvPr>
          <p:cNvPicPr>
            <a:picLocks noChangeAspect="1"/>
          </p:cNvPicPr>
          <p:nvPr/>
        </p:nvPicPr>
        <p:blipFill>
          <a:blip r:embed="rId2"/>
          <a:stretch>
            <a:fillRect/>
          </a:stretch>
        </p:blipFill>
        <p:spPr>
          <a:xfrm>
            <a:off x="0" y="29933"/>
            <a:ext cx="12192000" cy="6129129"/>
          </a:xfrm>
          <a:prstGeom prst="rect">
            <a:avLst/>
          </a:prstGeom>
        </p:spPr>
      </p:pic>
    </p:spTree>
    <p:extLst>
      <p:ext uri="{BB962C8B-B14F-4D97-AF65-F5344CB8AC3E}">
        <p14:creationId xmlns:p14="http://schemas.microsoft.com/office/powerpoint/2010/main" val="3781808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EE72F-04D2-E38E-8FC7-6B975F7D47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90FAC79-A05C-44C8-84CA-F7B945E37B62}"/>
              </a:ext>
            </a:extLst>
          </p:cNvPr>
          <p:cNvPicPr>
            <a:picLocks noChangeAspect="1"/>
          </p:cNvPicPr>
          <p:nvPr/>
        </p:nvPicPr>
        <p:blipFill>
          <a:blip r:embed="rId2"/>
          <a:stretch>
            <a:fillRect/>
          </a:stretch>
        </p:blipFill>
        <p:spPr>
          <a:xfrm>
            <a:off x="0" y="18032"/>
            <a:ext cx="12192000" cy="6120009"/>
          </a:xfrm>
          <a:prstGeom prst="rect">
            <a:avLst/>
          </a:prstGeom>
        </p:spPr>
      </p:pic>
    </p:spTree>
    <p:extLst>
      <p:ext uri="{BB962C8B-B14F-4D97-AF65-F5344CB8AC3E}">
        <p14:creationId xmlns:p14="http://schemas.microsoft.com/office/powerpoint/2010/main" val="56994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F76AA-98EE-E769-AA6A-DF420AC7EE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2B2E14D-629D-268C-DAB7-DBC95B5E8552}"/>
              </a:ext>
            </a:extLst>
          </p:cNvPr>
          <p:cNvPicPr>
            <a:picLocks noChangeAspect="1"/>
          </p:cNvPicPr>
          <p:nvPr/>
        </p:nvPicPr>
        <p:blipFill>
          <a:blip r:embed="rId2"/>
          <a:stretch>
            <a:fillRect/>
          </a:stretch>
        </p:blipFill>
        <p:spPr>
          <a:xfrm>
            <a:off x="0" y="5538"/>
            <a:ext cx="12192000" cy="6132503"/>
          </a:xfrm>
          <a:prstGeom prst="rect">
            <a:avLst/>
          </a:prstGeom>
        </p:spPr>
      </p:pic>
    </p:spTree>
    <p:extLst>
      <p:ext uri="{BB962C8B-B14F-4D97-AF65-F5344CB8AC3E}">
        <p14:creationId xmlns:p14="http://schemas.microsoft.com/office/powerpoint/2010/main" val="1392361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613B5-348F-63A4-BA6D-618515A706B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A962B61-2B10-DA42-7CBF-8CC2F2FF3963}"/>
              </a:ext>
            </a:extLst>
          </p:cNvPr>
          <p:cNvPicPr>
            <a:picLocks noChangeAspect="1"/>
          </p:cNvPicPr>
          <p:nvPr/>
        </p:nvPicPr>
        <p:blipFill>
          <a:blip r:embed="rId2"/>
          <a:stretch>
            <a:fillRect/>
          </a:stretch>
        </p:blipFill>
        <p:spPr>
          <a:xfrm>
            <a:off x="0" y="875"/>
            <a:ext cx="12192000" cy="6273802"/>
          </a:xfrm>
          <a:prstGeom prst="rect">
            <a:avLst/>
          </a:prstGeom>
        </p:spPr>
      </p:pic>
    </p:spTree>
    <p:extLst>
      <p:ext uri="{BB962C8B-B14F-4D97-AF65-F5344CB8AC3E}">
        <p14:creationId xmlns:p14="http://schemas.microsoft.com/office/powerpoint/2010/main" val="1994604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D5783-72D5-45A0-DBC1-8E67A21272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489BB4F-9690-CF03-5B48-7089D174C015}"/>
              </a:ext>
            </a:extLst>
          </p:cNvPr>
          <p:cNvPicPr>
            <a:picLocks noChangeAspect="1"/>
          </p:cNvPicPr>
          <p:nvPr/>
        </p:nvPicPr>
        <p:blipFill>
          <a:blip r:embed="rId2"/>
          <a:stretch>
            <a:fillRect/>
          </a:stretch>
        </p:blipFill>
        <p:spPr>
          <a:xfrm>
            <a:off x="0" y="38736"/>
            <a:ext cx="12192000" cy="6141347"/>
          </a:xfrm>
          <a:prstGeom prst="rect">
            <a:avLst/>
          </a:prstGeom>
        </p:spPr>
      </p:pic>
    </p:spTree>
    <p:extLst>
      <p:ext uri="{BB962C8B-B14F-4D97-AF65-F5344CB8AC3E}">
        <p14:creationId xmlns:p14="http://schemas.microsoft.com/office/powerpoint/2010/main" val="3123339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AF3CF-85A1-30FE-C5B2-0D226E6F5C1C}"/>
              </a:ext>
            </a:extLst>
          </p:cNvPr>
          <p:cNvSpPr>
            <a:spLocks noGrp="1"/>
          </p:cNvSpPr>
          <p:nvPr>
            <p:ph type="title"/>
          </p:nvPr>
        </p:nvSpPr>
        <p:spPr>
          <a:xfrm>
            <a:off x="838200" y="365125"/>
            <a:ext cx="10515600" cy="664889"/>
          </a:xfrm>
        </p:spPr>
        <p:txBody>
          <a:bodyPr>
            <a:normAutofit/>
          </a:bodyPr>
          <a:lstStyle/>
          <a:p>
            <a:pPr algn="ctr"/>
            <a:r>
              <a:rPr lang="en-US" sz="4000" dirty="0">
                <a:solidFill>
                  <a:srgbClr val="FF0000"/>
                </a:solidFill>
                <a:latin typeface="Arial Black" panose="020B0A04020102020204" pitchFamily="34" charset="0"/>
              </a:rPr>
              <a:t>Key Insights</a:t>
            </a:r>
            <a:endParaRPr lang="en-IN" sz="4000" dirty="0">
              <a:solidFill>
                <a:srgbClr val="FF0000"/>
              </a:solidFill>
              <a:latin typeface="Arial Black" panose="020B0A04020102020204" pitchFamily="34" charset="0"/>
            </a:endParaRPr>
          </a:p>
        </p:txBody>
      </p:sp>
      <p:sp>
        <p:nvSpPr>
          <p:cNvPr id="3" name="TextBox 2">
            <a:extLst>
              <a:ext uri="{FF2B5EF4-FFF2-40B4-BE49-F238E27FC236}">
                <a16:creationId xmlns:a16="http://schemas.microsoft.com/office/drawing/2014/main" id="{DE6F00C8-FC2C-2D85-7DC8-F8CA1AAFE5D2}"/>
              </a:ext>
            </a:extLst>
          </p:cNvPr>
          <p:cNvSpPr txBox="1"/>
          <p:nvPr/>
        </p:nvSpPr>
        <p:spPr>
          <a:xfrm>
            <a:off x="835572" y="1030014"/>
            <a:ext cx="10515600" cy="5232202"/>
          </a:xfrm>
          <a:prstGeom prst="rect">
            <a:avLst/>
          </a:prstGeom>
          <a:noFill/>
        </p:spPr>
        <p:txBody>
          <a:bodyPr wrap="square" rtlCol="0">
            <a:spAutoFit/>
          </a:bodyPr>
          <a:lstStyle/>
          <a:p>
            <a:r>
              <a:rPr lang="en-IN" sz="2000" b="1" u="sng" dirty="0"/>
              <a:t>Trend Over Time:</a:t>
            </a:r>
          </a:p>
          <a:p>
            <a:r>
              <a:rPr lang="en-US" sz="2000" dirty="0"/>
              <a:t>Movie sales show fluctuations across years, reflecting changes in audience behavior and market conditions.</a:t>
            </a:r>
          </a:p>
          <a:p>
            <a:r>
              <a:rPr lang="en-IN" sz="2000" b="1" u="sng" dirty="0"/>
              <a:t>Genre Performance:</a:t>
            </a:r>
          </a:p>
          <a:p>
            <a:r>
              <a:rPr lang="en-US" sz="2000" dirty="0"/>
              <a:t>Certain genres consistently generate higher sales compared to others, showing clear audience preferences.</a:t>
            </a:r>
          </a:p>
          <a:p>
            <a:r>
              <a:rPr lang="en-US" sz="2000" b="1" u="sng" dirty="0"/>
              <a:t>Ex:</a:t>
            </a:r>
          </a:p>
          <a:p>
            <a:r>
              <a:rPr lang="en-US" sz="2000" dirty="0"/>
              <a:t>Action, Adventure and Science -fiction Gener Movies.</a:t>
            </a:r>
          </a:p>
          <a:p>
            <a:r>
              <a:rPr lang="en-IN" sz="2000" b="1" u="sng" dirty="0"/>
              <a:t>Top Performing Movies:</a:t>
            </a:r>
          </a:p>
          <a:p>
            <a:r>
              <a:rPr lang="en-US" sz="2000" dirty="0"/>
              <a:t>A limited set of movies dominate box office collections, helping identify benchmarks for success.</a:t>
            </a:r>
          </a:p>
          <a:p>
            <a:r>
              <a:rPr lang="en-US" sz="2000" b="1" u="sng" dirty="0"/>
              <a:t>Ex:</a:t>
            </a:r>
          </a:p>
          <a:p>
            <a:r>
              <a:rPr lang="en-US" sz="2000" dirty="0"/>
              <a:t>Star Wars, Avatar,</a:t>
            </a:r>
            <a:r>
              <a:rPr lang="en-IN" sz="2000" dirty="0"/>
              <a:t> Jurassic World, The Avengers</a:t>
            </a:r>
          </a:p>
          <a:p>
            <a:r>
              <a:rPr lang="en-IN" sz="2000" b="1" u="sng" dirty="0"/>
              <a:t>Revenue &amp; Ratings Trend:</a:t>
            </a:r>
          </a:p>
          <a:p>
            <a:r>
              <a:rPr lang="en-US" sz="2000" dirty="0"/>
              <a:t>Movies can earn more money even if their ratings are low, because factors like marketing, popular actors, genre, and release timing strongly influence revenue.</a:t>
            </a:r>
            <a:endParaRPr lang="en-IN" sz="2000" b="1" u="sng" dirty="0"/>
          </a:p>
          <a:p>
            <a:endParaRPr lang="en-IN" dirty="0"/>
          </a:p>
        </p:txBody>
      </p:sp>
    </p:spTree>
    <p:extLst>
      <p:ext uri="{BB962C8B-B14F-4D97-AF65-F5344CB8AC3E}">
        <p14:creationId xmlns:p14="http://schemas.microsoft.com/office/powerpoint/2010/main" val="1011939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22397-9683-B767-73A6-EA4F1C1AFCAE}"/>
              </a:ext>
            </a:extLst>
          </p:cNvPr>
          <p:cNvSpPr>
            <a:spLocks noGrp="1"/>
          </p:cNvSpPr>
          <p:nvPr>
            <p:ph type="title"/>
          </p:nvPr>
        </p:nvSpPr>
        <p:spPr>
          <a:xfrm>
            <a:off x="838200" y="365126"/>
            <a:ext cx="10515600" cy="706930"/>
          </a:xfrm>
        </p:spPr>
        <p:txBody>
          <a:bodyPr>
            <a:normAutofit/>
          </a:bodyPr>
          <a:lstStyle/>
          <a:p>
            <a:pPr algn="ctr"/>
            <a:r>
              <a:rPr lang="en-US" sz="4000" dirty="0">
                <a:solidFill>
                  <a:srgbClr val="FF0000"/>
                </a:solidFill>
                <a:latin typeface="Arial Black" panose="020B0A04020102020204" pitchFamily="34" charset="0"/>
              </a:rPr>
              <a:t>Conclusion</a:t>
            </a:r>
            <a:endParaRPr lang="en-IN" sz="4000" dirty="0">
              <a:solidFill>
                <a:srgbClr val="FF0000"/>
              </a:solidFill>
              <a:latin typeface="Arial Black" panose="020B0A04020102020204" pitchFamily="34" charset="0"/>
            </a:endParaRPr>
          </a:p>
        </p:txBody>
      </p:sp>
      <p:sp>
        <p:nvSpPr>
          <p:cNvPr id="3" name="TextBox 2">
            <a:extLst>
              <a:ext uri="{FF2B5EF4-FFF2-40B4-BE49-F238E27FC236}">
                <a16:creationId xmlns:a16="http://schemas.microsoft.com/office/drawing/2014/main" id="{EE90A98A-2A02-060C-6D67-17840C12181D}"/>
              </a:ext>
            </a:extLst>
          </p:cNvPr>
          <p:cNvSpPr txBox="1"/>
          <p:nvPr/>
        </p:nvSpPr>
        <p:spPr>
          <a:xfrm>
            <a:off x="683172" y="1072056"/>
            <a:ext cx="10741573" cy="5232202"/>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t>In conclusion, this project successfully analyzed movie sales data to understand the relationship between box office revenue, movie ratings, and yearly performance trends.</a:t>
            </a:r>
          </a:p>
          <a:p>
            <a:pPr algn="just"/>
            <a:endParaRPr lang="en-US" sz="2000" dirty="0"/>
          </a:p>
          <a:p>
            <a:pPr marL="342900" indent="-342900" algn="just">
              <a:buFont typeface="Arial" panose="020B0604020202020204" pitchFamily="34" charset="0"/>
              <a:buChar char="•"/>
            </a:pPr>
            <a:r>
              <a:rPr lang="en-US" sz="2000" dirty="0"/>
              <a:t>Movie success is influenced by multiple factors, not just audience ratings. Some movies earned high revenue despite lower ratings.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Factors such as genre, marketing, star power, and release timing play an important role in a movie’s financial success.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In several years, total revenue increased even when average movie ratings declined.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Year-wise trends highlight fluctuations in both revenue and ratings due to changing audience preferences and market conditions.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Some movies achieved high revenue despite moderate or low ratings, emphasizing the business-driven nature of the film industry.</a:t>
            </a:r>
          </a:p>
          <a:p>
            <a:endParaRPr lang="en-IN" dirty="0"/>
          </a:p>
        </p:txBody>
      </p:sp>
    </p:spTree>
    <p:extLst>
      <p:ext uri="{BB962C8B-B14F-4D97-AF65-F5344CB8AC3E}">
        <p14:creationId xmlns:p14="http://schemas.microsoft.com/office/powerpoint/2010/main" val="472986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CB650-D88E-2BF1-AF4B-07809138ABF6}"/>
              </a:ext>
            </a:extLst>
          </p:cNvPr>
          <p:cNvSpPr>
            <a:spLocks noGrp="1"/>
          </p:cNvSpPr>
          <p:nvPr>
            <p:ph type="title"/>
          </p:nvPr>
        </p:nvSpPr>
        <p:spPr>
          <a:xfrm>
            <a:off x="838200" y="365126"/>
            <a:ext cx="10515600" cy="759482"/>
          </a:xfrm>
        </p:spPr>
        <p:txBody>
          <a:bodyPr>
            <a:normAutofit/>
          </a:bodyPr>
          <a:lstStyle/>
          <a:p>
            <a:pPr algn="ctr"/>
            <a:r>
              <a:rPr lang="en-IN" sz="4000" dirty="0">
                <a:solidFill>
                  <a:srgbClr val="FF0000"/>
                </a:solidFill>
                <a:latin typeface="Arial Black" panose="020B0A04020102020204" pitchFamily="34" charset="0"/>
              </a:rPr>
              <a:t>Recommendations</a:t>
            </a:r>
            <a:r>
              <a:rPr lang="en-IN" sz="4000" dirty="0"/>
              <a:t> </a:t>
            </a:r>
          </a:p>
        </p:txBody>
      </p:sp>
      <p:sp>
        <p:nvSpPr>
          <p:cNvPr id="3" name="TextBox 2">
            <a:extLst>
              <a:ext uri="{FF2B5EF4-FFF2-40B4-BE49-F238E27FC236}">
                <a16:creationId xmlns:a16="http://schemas.microsoft.com/office/drawing/2014/main" id="{7831F6EA-61AB-54C8-1639-5006EB0AD51C}"/>
              </a:ext>
            </a:extLst>
          </p:cNvPr>
          <p:cNvSpPr txBox="1"/>
          <p:nvPr/>
        </p:nvSpPr>
        <p:spPr>
          <a:xfrm>
            <a:off x="838201" y="1030014"/>
            <a:ext cx="10515600" cy="5539978"/>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t>Focus on producing movies in high-performing genres such as </a:t>
            </a:r>
            <a:r>
              <a:rPr lang="en-US" sz="2000" b="1" dirty="0"/>
              <a:t>Action, Adventure, and Sci-Fi</a:t>
            </a:r>
            <a:r>
              <a:rPr lang="en-US" sz="2000" dirty="0"/>
              <a:t>, as these genres attract larger audiences and generate higher revenue.</a:t>
            </a:r>
          </a:p>
          <a:p>
            <a:pPr algn="just"/>
            <a:endParaRPr lang="en-US" sz="2000" dirty="0"/>
          </a:p>
          <a:p>
            <a:pPr marL="285750" indent="-285750" algn="just">
              <a:buFont typeface="Arial" panose="020B0604020202020204" pitchFamily="34" charset="0"/>
              <a:buChar char="•"/>
            </a:pPr>
            <a:r>
              <a:rPr lang="en-US" sz="2000" dirty="0"/>
              <a:t>Ensure </a:t>
            </a:r>
            <a:r>
              <a:rPr lang="en-US" sz="2000" b="1" dirty="0"/>
              <a:t>high production quality and a strong cinematic experience</a:t>
            </a:r>
            <a:r>
              <a:rPr lang="en-US" sz="2000" dirty="0"/>
              <a:t>, including visuals, sound, and storytelling, to improve audience satisfaction.</a:t>
            </a:r>
          </a:p>
          <a:p>
            <a:pPr algn="just"/>
            <a:endParaRPr lang="en-US" sz="2000" dirty="0"/>
          </a:p>
          <a:p>
            <a:pPr marL="285750" indent="-285750" algn="just">
              <a:buFont typeface="Arial" panose="020B0604020202020204" pitchFamily="34" charset="0"/>
              <a:buChar char="•"/>
            </a:pPr>
            <a:r>
              <a:rPr lang="en-US" sz="2000" dirty="0"/>
              <a:t>Invest in </a:t>
            </a:r>
            <a:r>
              <a:rPr lang="en-US" sz="2000" b="1" dirty="0"/>
              <a:t>effective marketing and promotions</a:t>
            </a:r>
            <a:r>
              <a:rPr lang="en-US" sz="2000" dirty="0"/>
              <a:t> to reach a wider audience and encourage viewers to share genuine ratings and reviews after watching the movie.</a:t>
            </a:r>
          </a:p>
          <a:p>
            <a:pPr algn="just"/>
            <a:endParaRPr lang="en-US" sz="2000" dirty="0"/>
          </a:p>
          <a:p>
            <a:pPr marL="285750" indent="-285750" algn="just">
              <a:buFont typeface="Arial" panose="020B0604020202020204" pitchFamily="34" charset="0"/>
              <a:buChar char="•"/>
            </a:pPr>
            <a:r>
              <a:rPr lang="en-US" sz="2000" dirty="0"/>
              <a:t>Maintain </a:t>
            </a:r>
            <a:r>
              <a:rPr lang="en-US" sz="2000" b="1" dirty="0"/>
              <a:t>affordable ticket pricing</a:t>
            </a:r>
            <a:r>
              <a:rPr lang="en-US" sz="2000" dirty="0"/>
              <a:t> to increase theatre footfall and attract a broader audience base.</a:t>
            </a:r>
          </a:p>
          <a:p>
            <a:pPr algn="just"/>
            <a:endParaRPr lang="en-US" sz="2000" dirty="0"/>
          </a:p>
          <a:p>
            <a:pPr marL="285750" indent="-285750" algn="just">
              <a:buFont typeface="Arial" panose="020B0604020202020204" pitchFamily="34" charset="0"/>
              <a:buChar char="•"/>
            </a:pPr>
            <a:r>
              <a:rPr lang="en-US" sz="2000" dirty="0"/>
              <a:t>Choose the </a:t>
            </a:r>
            <a:r>
              <a:rPr lang="en-US" sz="2000" b="1" dirty="0"/>
              <a:t>most suitable release date</a:t>
            </a:r>
            <a:r>
              <a:rPr lang="en-US" sz="2000" dirty="0"/>
              <a:t> based on market conditions, competition, and production house strategy to maximize revenue.</a:t>
            </a:r>
          </a:p>
          <a:p>
            <a:pPr algn="just"/>
            <a:endParaRPr lang="en-US" sz="2000" dirty="0"/>
          </a:p>
          <a:p>
            <a:pPr marL="285750" indent="-285750" algn="just">
              <a:buFont typeface="Arial" panose="020B0604020202020204" pitchFamily="34" charset="0"/>
              <a:buChar char="•"/>
            </a:pPr>
            <a:r>
              <a:rPr lang="en-US" sz="2000" dirty="0"/>
              <a:t>To attract younger audiences, consider producing </a:t>
            </a:r>
            <a:r>
              <a:rPr lang="en-US" sz="2000" b="1" dirty="0"/>
              <a:t>animated and child-friendly movies</a:t>
            </a:r>
            <a:r>
              <a:rPr lang="en-US" sz="2000" dirty="0"/>
              <a:t>, which have strong repeat-viewing potential</a:t>
            </a:r>
            <a:r>
              <a:rPr lang="en-US" sz="1800" dirty="0"/>
              <a:t>.</a:t>
            </a:r>
            <a:endParaRPr lang="en-IN" sz="1800" dirty="0"/>
          </a:p>
          <a:p>
            <a:endParaRPr lang="en-IN" dirty="0"/>
          </a:p>
        </p:txBody>
      </p:sp>
    </p:spTree>
    <p:extLst>
      <p:ext uri="{BB962C8B-B14F-4D97-AF65-F5344CB8AC3E}">
        <p14:creationId xmlns:p14="http://schemas.microsoft.com/office/powerpoint/2010/main" val="294251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8DC603-9F70-5245-BF95-C27AEDED0167}"/>
              </a:ext>
            </a:extLst>
          </p:cNvPr>
          <p:cNvSpPr txBox="1"/>
          <p:nvPr/>
        </p:nvSpPr>
        <p:spPr>
          <a:xfrm>
            <a:off x="1093693" y="403412"/>
            <a:ext cx="9287436" cy="3908762"/>
          </a:xfrm>
          <a:prstGeom prst="rect">
            <a:avLst/>
          </a:prstGeom>
          <a:noFill/>
        </p:spPr>
        <p:txBody>
          <a:bodyPr wrap="square" rtlCol="0">
            <a:spAutoFit/>
          </a:bodyPr>
          <a:lstStyle/>
          <a:p>
            <a:pPr algn="ctr"/>
            <a:endParaRPr lang="en-US" sz="4400" dirty="0">
              <a:latin typeface="Arial Black" panose="020B0A04020102020204" pitchFamily="34" charset="0"/>
            </a:endParaRPr>
          </a:p>
          <a:p>
            <a:pPr algn="ctr"/>
            <a:endParaRPr lang="en-US" sz="4400" dirty="0">
              <a:latin typeface="Arial Black" panose="020B0A04020102020204" pitchFamily="34" charset="0"/>
            </a:endParaRPr>
          </a:p>
          <a:p>
            <a:pPr algn="ctr"/>
            <a:r>
              <a:rPr lang="en-US" sz="8000" dirty="0">
                <a:solidFill>
                  <a:srgbClr val="C00000"/>
                </a:solidFill>
                <a:latin typeface="Arial Black" panose="020B0A04020102020204" pitchFamily="34" charset="0"/>
              </a:rPr>
              <a:t>   Any</a:t>
            </a:r>
            <a:br>
              <a:rPr lang="en-US" sz="8000" dirty="0">
                <a:solidFill>
                  <a:srgbClr val="C00000"/>
                </a:solidFill>
                <a:latin typeface="Arial Black" panose="020B0A04020102020204" pitchFamily="34" charset="0"/>
              </a:rPr>
            </a:br>
            <a:r>
              <a:rPr lang="en-US" sz="8000" dirty="0">
                <a:solidFill>
                  <a:srgbClr val="C00000"/>
                </a:solidFill>
                <a:latin typeface="Arial Black" panose="020B0A04020102020204" pitchFamily="34" charset="0"/>
              </a:rPr>
              <a:t>    Questions?</a:t>
            </a:r>
            <a:endParaRPr lang="en-IN" sz="8000" dirty="0">
              <a:solidFill>
                <a:srgbClr val="C00000"/>
              </a:solidFill>
              <a:latin typeface="Arial Black" panose="020B0A04020102020204" pitchFamily="34" charset="0"/>
            </a:endParaRPr>
          </a:p>
        </p:txBody>
      </p:sp>
    </p:spTree>
    <p:extLst>
      <p:ext uri="{BB962C8B-B14F-4D97-AF65-F5344CB8AC3E}">
        <p14:creationId xmlns:p14="http://schemas.microsoft.com/office/powerpoint/2010/main" val="1589815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981</TotalTime>
  <Words>740</Words>
  <Application>Microsoft Office PowerPoint</Application>
  <PresentationFormat>Widescreen</PresentationFormat>
  <Paragraphs>85</Paragraphs>
  <Slides>15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Libre Baskerville</vt:lpstr>
      <vt:lpstr>Arial Black</vt:lpstr>
      <vt:lpstr>Algerian</vt:lpstr>
      <vt:lpstr>Calibri</vt:lpstr>
      <vt:lpstr>Arial</vt:lpstr>
      <vt:lpstr>Office Theme</vt:lpstr>
      <vt:lpstr>PowerPoint Presentation</vt:lpstr>
      <vt:lpstr>PowerPoint Presentation</vt:lpstr>
      <vt:lpstr>Agenda   </vt:lpstr>
      <vt:lpstr>  Introduction</vt:lpstr>
      <vt:lpstr>  Business Problem </vt:lpstr>
      <vt:lpstr>PowerPoint Presentation</vt:lpstr>
      <vt:lpstr>PowerPoint Presentation</vt:lpstr>
      <vt:lpstr>PowerPoint Presentation</vt:lpstr>
      <vt:lpstr>PowerPoint Presentation</vt:lpstr>
      <vt:lpstr>PowerPoint Presentation</vt:lpstr>
      <vt:lpstr>Key Insights</vt:lpstr>
      <vt:lpstr>Conclusion</vt:lpstr>
      <vt:lpstr>Recommendations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Kuchani Vamshi</cp:lastModifiedBy>
  <cp:revision>28</cp:revision>
  <dcterms:created xsi:type="dcterms:W3CDTF">2021-02-16T05:19:01Z</dcterms:created>
  <dcterms:modified xsi:type="dcterms:W3CDTF">2026-01-03T06:05:07Z</dcterms:modified>
</cp:coreProperties>
</file>